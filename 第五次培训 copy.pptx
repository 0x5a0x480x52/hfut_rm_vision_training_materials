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3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402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**代码区（Text Segment）**：用于存放程序编译后的机器指令，即程序执行的代码部分。它通常是只读的，以防止程序在运行过程中意外修改自身的指令。部分常量字符串（如 `"Hello World"`）也会放在只读存储区中。  
**全局/静态区（Global and Static Segment）**：在程序加载时分配，在整个程序运行期间都存在。所有定义在函数外的全局变量，以及在函数内用 `static` 修饰的静态变量，都会存放在此区域。静态变量在函数多次调用之间保持其值，因此常用于记录状态或计数。  
**堆区（Heap）**：由程序员显式控制，通过 `malloc`、`calloc`、`realloc` 分配内存，并使用 `free` 释放。堆的生命周期可以跨越函数调用，适用于动态数据结构（如链表、树等）。但若忘记释放，就会造成**内存泄漏**；若重复释放或非法访问，则会产生**未定义行为**。  
**栈区（Stack）**：由系统自动管理，用于存放函数的参数、返回地址以及局部变量。每当一个函数被调用时，系统就为其分配一个新的**栈帧**；函数执行完毕后，该栈帧立即被销毁。因此，栈上变量的生命周期仅限于函数执行期间。访问已销毁的栈变量会导致不可预测的错误。栈的特点是**速度快但空间有限**，典型错误如递归过深导致的“栈溢出（Stack Overflow）”。
总体而言，C语言的内存模型既体现了系统层次结构的严谨性，也揭示了手动内存管理的复杂性。理解各内存区的作用与生命周期，是深入掌握指针、作用域以及程序性能优化的基础。 
【计算机组成原理】里有更详细的介绍，感兴趣的同学可以课后深入学习。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933C3332-D1BB-33C3-7BAA-7D8B2EC77801}"/>
              </a:ext>
            </a:extLst>
          </p:cNvPr>
          <p:cNvGrpSpPr/>
          <p:nvPr/>
        </p:nvGrpSpPr>
        <p:grpSpPr>
          <a:xfrm>
            <a:off x="8396516" y="4605416"/>
            <a:ext cx="1835150" cy="1477073"/>
            <a:chOff x="8839201" y="4566262"/>
            <a:chExt cx="1835150" cy="1477073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31D99B3-A206-44A3-A83E-D4254EAE6724}"/>
                </a:ext>
              </a:extLst>
            </p:cNvPr>
            <p:cNvSpPr/>
            <p:nvPr/>
          </p:nvSpPr>
          <p:spPr>
            <a:xfrm>
              <a:off x="8839201" y="4876798"/>
              <a:ext cx="1828800" cy="388846"/>
            </a:xfrm>
            <a:prstGeom prst="rect">
              <a:avLst/>
            </a:prstGeom>
            <a:noFill/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a</a:t>
              </a:r>
              <a:endParaRPr lang="zh-CN" altLang="en-US" dirty="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20FB48E-5358-4191-AE77-C4FA72811817}"/>
                </a:ext>
              </a:extLst>
            </p:cNvPr>
            <p:cNvSpPr/>
            <p:nvPr/>
          </p:nvSpPr>
          <p:spPr>
            <a:xfrm>
              <a:off x="8839201" y="4566262"/>
              <a:ext cx="1828800" cy="232227"/>
            </a:xfrm>
            <a:prstGeom prst="rect">
              <a:avLst/>
            </a:prstGeom>
            <a:noFill/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…</a:t>
              </a:r>
              <a:endParaRPr lang="zh-CN" altLang="en-US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4E08140-4129-74F7-152A-4A271884C4AC}"/>
                </a:ext>
              </a:extLst>
            </p:cNvPr>
            <p:cNvSpPr/>
            <p:nvPr/>
          </p:nvSpPr>
          <p:spPr>
            <a:xfrm>
              <a:off x="8839201" y="5654489"/>
              <a:ext cx="1828800" cy="388846"/>
            </a:xfrm>
            <a:prstGeom prst="rect">
              <a:avLst/>
            </a:prstGeom>
            <a:noFill/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</a:t>
              </a:r>
              <a:endParaRPr lang="zh-CN" altLang="en-US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D99A2B0-3808-BCAB-1DB9-9C3445FDC999}"/>
                </a:ext>
              </a:extLst>
            </p:cNvPr>
            <p:cNvSpPr/>
            <p:nvPr/>
          </p:nvSpPr>
          <p:spPr>
            <a:xfrm>
              <a:off x="8845551" y="5343953"/>
              <a:ext cx="1828800" cy="232227"/>
            </a:xfrm>
            <a:prstGeom prst="rect">
              <a:avLst/>
            </a:prstGeom>
            <a:noFill/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…</a:t>
              </a:r>
              <a:endParaRPr lang="zh-CN" altLang="en-US" dirty="0"/>
            </a:p>
          </p:txBody>
        </p:sp>
        <p:cxnSp>
          <p:nvCxnSpPr>
            <p:cNvPr id="7" name="连接符: 肘形 6">
              <a:extLst>
                <a:ext uri="{FF2B5EF4-FFF2-40B4-BE49-F238E27FC236}">
                  <a16:creationId xmlns:a16="http://schemas.microsoft.com/office/drawing/2014/main" id="{08E5234B-C26A-97C2-EDA1-D0B8B0A7CF65}"/>
                </a:ext>
              </a:extLst>
            </p:cNvPr>
            <p:cNvCxnSpPr>
              <a:cxnSpLocks/>
              <a:stCxn id="4" idx="1"/>
              <a:endCxn id="2" idx="1"/>
            </p:cNvCxnSpPr>
            <p:nvPr/>
          </p:nvCxnSpPr>
          <p:spPr>
            <a:xfrm rot="10800000">
              <a:off x="8839201" y="5071222"/>
              <a:ext cx="12700" cy="777691"/>
            </a:xfrm>
            <a:prstGeom prst="bentConnector3">
              <a:avLst>
                <a:gd name="adj1" fmla="val 1800000"/>
              </a:avLst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7A86B5E0-AFA5-B77D-693F-3BD0567C9FA3}"/>
              </a:ext>
            </a:extLst>
          </p:cNvPr>
          <p:cNvGrpSpPr/>
          <p:nvPr/>
        </p:nvGrpSpPr>
        <p:grpSpPr>
          <a:xfrm>
            <a:off x="1393166" y="5028580"/>
            <a:ext cx="2145879" cy="1256928"/>
            <a:chOff x="2329139" y="1284419"/>
            <a:chExt cx="2145879" cy="158952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A4C328C9-E91C-20DA-9EF8-718E9D24937A}"/>
                </a:ext>
              </a:extLst>
            </p:cNvPr>
            <p:cNvSpPr/>
            <p:nvPr/>
          </p:nvSpPr>
          <p:spPr>
            <a:xfrm>
              <a:off x="2329139" y="1313444"/>
              <a:ext cx="2145879" cy="1560503"/>
            </a:xfrm>
            <a:prstGeom prst="round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449F892-7A1E-E44B-EB4B-A3A6710C1C65}"/>
                </a:ext>
              </a:extLst>
            </p:cNvPr>
            <p:cNvSpPr/>
            <p:nvPr/>
          </p:nvSpPr>
          <p:spPr>
            <a:xfrm>
              <a:off x="2329139" y="1648691"/>
              <a:ext cx="2145879" cy="332509"/>
            </a:xfrm>
            <a:prstGeom prst="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dk1"/>
                  </a:solidFill>
                </a:rPr>
                <a:t>…</a:t>
              </a:r>
              <a:endParaRPr lang="zh-CN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08E6EE2-1F30-2410-5D57-1D63D09BAAB0}"/>
                </a:ext>
              </a:extLst>
            </p:cNvPr>
            <p:cNvSpPr/>
            <p:nvPr/>
          </p:nvSpPr>
          <p:spPr>
            <a:xfrm>
              <a:off x="2329139" y="1983938"/>
              <a:ext cx="2145879" cy="332509"/>
            </a:xfrm>
            <a:prstGeom prst="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局部变量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8D39904-68E4-DECD-C4B5-9F5AB7BFDD8C}"/>
                </a:ext>
              </a:extLst>
            </p:cNvPr>
            <p:cNvSpPr/>
            <p:nvPr/>
          </p:nvSpPr>
          <p:spPr>
            <a:xfrm>
              <a:off x="2329139" y="2316447"/>
              <a:ext cx="2145879" cy="332509"/>
            </a:xfrm>
            <a:prstGeom prst="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dk1"/>
                  </a:solidFill>
                </a:rPr>
                <a:t>参数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DF58ACE-DD65-F470-3654-CB92E045D219}"/>
                </a:ext>
              </a:extLst>
            </p:cNvPr>
            <p:cNvSpPr txBox="1"/>
            <p:nvPr/>
          </p:nvSpPr>
          <p:spPr>
            <a:xfrm>
              <a:off x="2976788" y="1284419"/>
              <a:ext cx="8505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main</a:t>
              </a:r>
              <a:endParaRPr lang="zh-CN" altLang="en-US" dirty="0"/>
            </a:p>
          </p:txBody>
        </p:sp>
      </p:grp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6073F8B-53DE-FE13-5539-9C157D04324B}"/>
              </a:ext>
            </a:extLst>
          </p:cNvPr>
          <p:cNvSpPr/>
          <p:nvPr/>
        </p:nvSpPr>
        <p:spPr>
          <a:xfrm>
            <a:off x="1393158" y="4138076"/>
            <a:ext cx="2145879" cy="299464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Fun_i</a:t>
            </a:r>
            <a:endParaRPr lang="zh-CN" altLang="en-US" dirty="0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65CEFDF-2852-AEAD-71CB-64E386026725}"/>
              </a:ext>
            </a:extLst>
          </p:cNvPr>
          <p:cNvSpPr/>
          <p:nvPr/>
        </p:nvSpPr>
        <p:spPr>
          <a:xfrm>
            <a:off x="1393159" y="4598748"/>
            <a:ext cx="2145879" cy="299464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9EE2061-748F-FADE-62F5-687C7909908E}"/>
              </a:ext>
            </a:extLst>
          </p:cNvPr>
          <p:cNvGrpSpPr/>
          <p:nvPr/>
        </p:nvGrpSpPr>
        <p:grpSpPr>
          <a:xfrm>
            <a:off x="1163794" y="817418"/>
            <a:ext cx="2604621" cy="5610334"/>
            <a:chOff x="1163794" y="817418"/>
            <a:chExt cx="2604621" cy="5610334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12F19E3-D7C8-42C9-FFDB-C1B48D40F880}"/>
                </a:ext>
              </a:extLst>
            </p:cNvPr>
            <p:cNvSpPr/>
            <p:nvPr/>
          </p:nvSpPr>
          <p:spPr>
            <a:xfrm>
              <a:off x="1163794" y="817418"/>
              <a:ext cx="76200" cy="5610333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CFE56ED-BEEC-95F7-6DF0-DC34F3EBFE49}"/>
                </a:ext>
              </a:extLst>
            </p:cNvPr>
            <p:cNvSpPr/>
            <p:nvPr/>
          </p:nvSpPr>
          <p:spPr>
            <a:xfrm flipH="1">
              <a:off x="1239994" y="6382033"/>
              <a:ext cx="2452221" cy="45719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13C65A34-EEC0-92CD-2C8C-ED1B88E30CE7}"/>
                </a:ext>
              </a:extLst>
            </p:cNvPr>
            <p:cNvSpPr/>
            <p:nvPr/>
          </p:nvSpPr>
          <p:spPr>
            <a:xfrm>
              <a:off x="3692215" y="817419"/>
              <a:ext cx="76200" cy="5610333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4A07138-5A0E-1A05-A36D-09E78E3172FD}"/>
              </a:ext>
            </a:extLst>
          </p:cNvPr>
          <p:cNvGrpSpPr/>
          <p:nvPr/>
        </p:nvGrpSpPr>
        <p:grpSpPr>
          <a:xfrm>
            <a:off x="4186694" y="5031535"/>
            <a:ext cx="2145879" cy="1256928"/>
            <a:chOff x="2329139" y="1284419"/>
            <a:chExt cx="2145879" cy="1589528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D048C2BA-35A2-67CF-7D54-D5DF99F77CD1}"/>
                </a:ext>
              </a:extLst>
            </p:cNvPr>
            <p:cNvSpPr/>
            <p:nvPr/>
          </p:nvSpPr>
          <p:spPr>
            <a:xfrm>
              <a:off x="2329139" y="1313444"/>
              <a:ext cx="2145879" cy="1560503"/>
            </a:xfrm>
            <a:prstGeom prst="round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4CA32BE6-D363-01A7-494B-D6E29A0DB27A}"/>
                </a:ext>
              </a:extLst>
            </p:cNvPr>
            <p:cNvSpPr/>
            <p:nvPr/>
          </p:nvSpPr>
          <p:spPr>
            <a:xfrm>
              <a:off x="2329139" y="1648691"/>
              <a:ext cx="2145879" cy="332509"/>
            </a:xfrm>
            <a:prstGeom prst="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dk1"/>
                  </a:solidFill>
                </a:rPr>
                <a:t>…</a:t>
              </a:r>
              <a:endParaRPr lang="zh-CN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D8926B9C-495D-D999-B912-35EB9F2F9D0F}"/>
                </a:ext>
              </a:extLst>
            </p:cNvPr>
            <p:cNvSpPr/>
            <p:nvPr/>
          </p:nvSpPr>
          <p:spPr>
            <a:xfrm>
              <a:off x="2329139" y="1983938"/>
              <a:ext cx="2145879" cy="332509"/>
            </a:xfrm>
            <a:prstGeom prst="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局部变量 </a:t>
              </a:r>
              <a:r>
                <a:rPr lang="en-US" altLang="zh-CN" dirty="0"/>
                <a:t>c</a:t>
              </a:r>
              <a:endParaRPr lang="zh-CN" altLang="en-US" dirty="0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EDB787CC-0808-3B5A-0E58-173B050AEC97}"/>
                </a:ext>
              </a:extLst>
            </p:cNvPr>
            <p:cNvSpPr/>
            <p:nvPr/>
          </p:nvSpPr>
          <p:spPr>
            <a:xfrm>
              <a:off x="2329139" y="2316447"/>
              <a:ext cx="2145879" cy="332509"/>
            </a:xfrm>
            <a:prstGeom prst="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dk1"/>
                  </a:solidFill>
                </a:rPr>
                <a:t>参数 </a:t>
              </a:r>
              <a:r>
                <a:rPr lang="en-US" altLang="zh-CN" dirty="0">
                  <a:solidFill>
                    <a:schemeClr val="dk1"/>
                  </a:solidFill>
                </a:rPr>
                <a:t>a</a:t>
              </a:r>
              <a:endParaRPr lang="zh-CN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2169A868-8332-7575-3500-5AF489EA938C}"/>
                </a:ext>
              </a:extLst>
            </p:cNvPr>
            <p:cNvSpPr txBox="1"/>
            <p:nvPr/>
          </p:nvSpPr>
          <p:spPr>
            <a:xfrm>
              <a:off x="2976788" y="1284419"/>
              <a:ext cx="850579" cy="467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err="1"/>
                <a:t>Fun_A</a:t>
              </a:r>
              <a:endParaRPr lang="zh-CN" altLang="en-US" dirty="0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0248CCF-6BB8-893C-E022-C5EAE63D345D}"/>
              </a:ext>
            </a:extLst>
          </p:cNvPr>
          <p:cNvGrpSpPr/>
          <p:nvPr/>
        </p:nvGrpSpPr>
        <p:grpSpPr>
          <a:xfrm>
            <a:off x="4186694" y="3579364"/>
            <a:ext cx="2145879" cy="1256928"/>
            <a:chOff x="2329139" y="1284419"/>
            <a:chExt cx="2145879" cy="1589528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4AA7332D-FCDA-38EA-356E-ACAC7BF528FA}"/>
                </a:ext>
              </a:extLst>
            </p:cNvPr>
            <p:cNvSpPr/>
            <p:nvPr/>
          </p:nvSpPr>
          <p:spPr>
            <a:xfrm>
              <a:off x="2329139" y="1313444"/>
              <a:ext cx="2145879" cy="1560503"/>
            </a:xfrm>
            <a:prstGeom prst="round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C0E6A5A6-9A85-C66E-DA7A-E9534501CC46}"/>
                </a:ext>
              </a:extLst>
            </p:cNvPr>
            <p:cNvSpPr/>
            <p:nvPr/>
          </p:nvSpPr>
          <p:spPr>
            <a:xfrm>
              <a:off x="2329139" y="1648691"/>
              <a:ext cx="2145879" cy="332509"/>
            </a:xfrm>
            <a:prstGeom prst="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dk1"/>
                  </a:solidFill>
                </a:rPr>
                <a:t>…</a:t>
              </a:r>
              <a:endParaRPr lang="zh-CN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F51CA119-2759-5906-C706-D0CAF3FCF853}"/>
                </a:ext>
              </a:extLst>
            </p:cNvPr>
            <p:cNvSpPr/>
            <p:nvPr/>
          </p:nvSpPr>
          <p:spPr>
            <a:xfrm>
              <a:off x="2329139" y="1983938"/>
              <a:ext cx="2145879" cy="332509"/>
            </a:xfrm>
            <a:prstGeom prst="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局部变量 </a:t>
              </a:r>
              <a:r>
                <a:rPr lang="en-US" altLang="zh-CN" dirty="0"/>
                <a:t>d</a:t>
              </a:r>
              <a:endParaRPr lang="zh-CN" altLang="en-US" dirty="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57DC64D7-A0DA-31CB-8567-799C1E30016E}"/>
                </a:ext>
              </a:extLst>
            </p:cNvPr>
            <p:cNvSpPr/>
            <p:nvPr/>
          </p:nvSpPr>
          <p:spPr>
            <a:xfrm>
              <a:off x="2329139" y="2316447"/>
              <a:ext cx="2145879" cy="332509"/>
            </a:xfrm>
            <a:prstGeom prst="rect">
              <a:avLst/>
            </a:prstGeom>
            <a:noFill/>
            <a:ln w="25400"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dk1"/>
                  </a:solidFill>
                </a:rPr>
                <a:t>参数 </a:t>
              </a:r>
              <a:r>
                <a:rPr lang="en-US" altLang="zh-CN" dirty="0">
                  <a:solidFill>
                    <a:schemeClr val="dk1"/>
                  </a:solidFill>
                </a:rPr>
                <a:t>b</a:t>
              </a:r>
              <a:endParaRPr lang="zh-CN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D5E0901-A1A8-656C-7390-7130313DB49B}"/>
                </a:ext>
              </a:extLst>
            </p:cNvPr>
            <p:cNvSpPr txBox="1"/>
            <p:nvPr/>
          </p:nvSpPr>
          <p:spPr>
            <a:xfrm>
              <a:off x="2976788" y="1284419"/>
              <a:ext cx="850579" cy="467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err="1"/>
                <a:t>Fun_B</a:t>
              </a:r>
              <a:endParaRPr lang="zh-CN" altLang="en-US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027FF85D-9477-6422-9B07-651F9021792E}"/>
              </a:ext>
            </a:extLst>
          </p:cNvPr>
          <p:cNvSpPr txBox="1"/>
          <p:nvPr/>
        </p:nvSpPr>
        <p:spPr>
          <a:xfrm>
            <a:off x="7176655" y="1080655"/>
            <a:ext cx="3934690" cy="4801314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lvl="1"/>
            <a:endParaRPr lang="en-US" altLang="zh-CN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Fun_i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pPr lvl="1"/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Fun_A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pPr lvl="1"/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lvl="1"/>
            <a:b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Fun_A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pPr lvl="1"/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Fun_B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pPr lvl="1"/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lvl="1"/>
            <a:b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Fun_B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) {</a:t>
            </a:r>
          </a:p>
          <a:p>
            <a:pPr lvl="1"/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lvl="1"/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032EFBB1-2A2C-AB88-01C1-8EF57F4BFAE0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3539037" y="1562101"/>
            <a:ext cx="3543934" cy="2725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箭头: 右 43">
            <a:extLst>
              <a:ext uri="{FF2B5EF4-FFF2-40B4-BE49-F238E27FC236}">
                <a16:creationId xmlns:a16="http://schemas.microsoft.com/office/drawing/2014/main" id="{D4390220-A909-4C77-4526-D5F4B94A811D}"/>
              </a:ext>
            </a:extLst>
          </p:cNvPr>
          <p:cNvSpPr/>
          <p:nvPr/>
        </p:nvSpPr>
        <p:spPr>
          <a:xfrm>
            <a:off x="7354021" y="1475510"/>
            <a:ext cx="284018" cy="173182"/>
          </a:xfrm>
          <a:prstGeom prst="rightArrow">
            <a:avLst>
              <a:gd name="adj1" fmla="val 49999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88E52350-B46E-4CCD-4FFD-459B67E5CEAA}"/>
              </a:ext>
            </a:extLst>
          </p:cNvPr>
          <p:cNvCxnSpPr/>
          <p:nvPr/>
        </p:nvCxnSpPr>
        <p:spPr>
          <a:xfrm flipH="1">
            <a:off x="5684922" y="3207657"/>
            <a:ext cx="4003364" cy="2808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D2215D8B-674C-D62A-A0BB-C3332C76A363}"/>
              </a:ext>
            </a:extLst>
          </p:cNvPr>
          <p:cNvCxnSpPr>
            <a:cxnSpLocks/>
          </p:cNvCxnSpPr>
          <p:nvPr/>
        </p:nvCxnSpPr>
        <p:spPr>
          <a:xfrm flipH="1">
            <a:off x="5885423" y="3530511"/>
            <a:ext cx="2815891" cy="2182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CB469A7F-7949-214E-8CC9-AABA4D84FFFC}"/>
              </a:ext>
            </a:extLst>
          </p:cNvPr>
          <p:cNvCxnSpPr/>
          <p:nvPr/>
        </p:nvCxnSpPr>
        <p:spPr>
          <a:xfrm flipH="1" flipV="1">
            <a:off x="5885423" y="4526912"/>
            <a:ext cx="3723034" cy="309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924AF74-3F2B-BFB4-BC74-CCF28EF2CA90}"/>
              </a:ext>
            </a:extLst>
          </p:cNvPr>
          <p:cNvCxnSpPr/>
          <p:nvPr/>
        </p:nvCxnSpPr>
        <p:spPr>
          <a:xfrm flipH="1" flipV="1">
            <a:off x="5950857" y="4219304"/>
            <a:ext cx="2750457" cy="904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78CE0152-34CF-560A-D2CF-2427B209DD89}"/>
              </a:ext>
            </a:extLst>
          </p:cNvPr>
          <p:cNvCxnSpPr>
            <a:endCxn id="17" idx="3"/>
          </p:cNvCxnSpPr>
          <p:nvPr/>
        </p:nvCxnSpPr>
        <p:spPr>
          <a:xfrm flipH="1">
            <a:off x="3539037" y="2402114"/>
            <a:ext cx="3814984" cy="1885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EB191A7F-8AB0-B4AC-966E-CD99A5A9C20B}"/>
              </a:ext>
            </a:extLst>
          </p:cNvPr>
          <p:cNvSpPr txBox="1"/>
          <p:nvPr/>
        </p:nvSpPr>
        <p:spPr>
          <a:xfrm>
            <a:off x="1239994" y="6409994"/>
            <a:ext cx="2447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运行时栈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6 0.00046 L 0.00196 0.00046 C 0.00118 0.00602 0.00026 0.0118 -0.00039 0.01759 C -0.00078 0.02037 -0.00091 0.02315 -0.00117 0.02592 C -0.00143 0.02731 -0.00156 0.0287 -0.00169 0.03009 C -0.00117 0.04236 -0.00312 0.04028 0.00248 0.04028 " pathEditMode="relative" ptsTypes="AAAAAA">
                                      <p:cBhvr>
                                        <p:cTn id="1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44 0.04028 L 0.00144 0.04028 C 0.00039 0.04166 -0.00078 0.04259 -0.00143 0.04444 C -0.00195 0.04514 -0.00182 0.04653 -0.00195 0.04768 C -0.00234 0.04953 -0.00286 0.05116 -0.00325 0.05324 C -0.00403 0.05625 -0.00455 0.05926 -0.00481 0.0625 C -0.00494 0.06319 -0.00507 0.06435 -0.00507 0.06528 C -0.00455 0.06782 -0.00403 0.07037 -0.00325 0.07315 C -0.00286 0.07477 -0.00221 0.07546 -0.00117 0.07639 C 0.00013 0.07754 0.00092 0.07778 0.00222 0.0787 " pathEditMode="relative" ptsTypes="AAAAAAAAAA">
                                      <p:cBhvr>
                                        <p:cTn id="1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8 0.07824 L 0.00078 0.07824 C -0.00026 0.08611 0.00078 0.07916 -0.00494 0.0956 C -0.0056 0.09745 -0.00625 0.09953 -0.00677 0.10116 C -0.00742 0.10324 -0.00833 0.10509 -0.00872 0.10717 C -0.01145 0.11782 -0.01237 0.12129 -0.01445 0.13403 C -0.0151 0.13727 -0.01523 0.14051 -0.01562 0.14375 C -0.01588 0.14907 -0.01666 0.1625 -0.01653 0.16828 C -0.01653 0.17708 -0.0164 0.18565 -0.01601 0.19421 C -0.01588 0.19791 -0.01419 0.20555 -0.01328 0.20856 C -0.01224 0.21203 -0.01145 0.2162 -0.00963 0.21921 C -0.00859 0.22083 -0.00768 0.22291 -0.00638 0.2243 C -0.00599 0.225 -0.0056 0.22546 -0.00507 0.22616 C -0.00455 0.22685 -0.00403 0.22778 -0.00351 0.22893 C -0.00247 0.23102 -0.00169 0.23356 -0.00039 0.23541 C -0.00026 0.23541 -0.00013 0.23588 0.00013 0.23588 C 0.00026 0.23611 0.00065 0.23611 0.00092 0.23634 " pathEditMode="relative" ptsTypes="AAAAAAAAAAAAAAAAA">
                                      <p:cBhvr>
                                        <p:cTn id="1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0.23634 L 0.00091 0.23634 C 0.00039 0.23773 -0.00039 0.23935 -0.00092 0.2412 C -0.00196 0.24514 -0.00235 0.2493 -0.00261 0.25393 C -0.00274 0.25602 -0.00274 0.25764 -0.00274 0.25949 C -0.00274 0.26227 -0.00274 0.26528 -0.00274 0.26782 C -0.00274 0.26852 -0.00235 0.26898 -0.00235 0.26967 C -0.00196 0.27153 -0.00235 0.27083 -0.0017 0.27245 C -0.00157 0.27361 -0.00105 0.2743 -0.00039 0.27477 C -0.00039 0.275 4.16667E-6 0.27523 0.00026 0.27546 C 0.00039 0.27569 0.00039 0.27639 0.00091 0.27639 C 0.00156 0.27639 0.00234 0.27639 0.00351 0.27639 " pathEditMode="relative" rAng="0" ptsTypes="AAAAAAAAAAAA">
                                      <p:cBhvr>
                                        <p:cTn id="3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1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83 0.27569 L 0.00183 0.27569 C 0.00065 0.27778 -0.00299 0.28449 -0.00429 0.28819 C -0.00455 0.28889 -0.00468 0.28981 -0.00481 0.29051 C -0.00625 0.29514 -0.0052 0.29004 -0.00625 0.29606 C -0.00651 0.3 -0.00677 0.30347 -0.00638 0.30717 C -0.00638 0.30787 -0.00625 0.30856 -0.00599 0.30903 C -0.00586 0.30949 -0.0056 0.30972 -0.0052 0.30995 C -0.00325 0.31227 -0.00494 0.31041 -0.00273 0.31227 C -0.00247 0.31273 -0.00208 0.31319 -0.00169 0.31366 C -0.00143 0.31389 -0.00104 0.31412 -0.00065 0.31458 C -0.00026 0.31481 -3.54167E-6 0.31551 0.00052 0.31597 C 0.00131 0.31666 0.0017 0.31666 0.00261 0.31736 C 0.00391 0.31828 0.00339 0.31828 0.00404 0.31828 " pathEditMode="relative" ptsTypes="AAAAAAAAAAAAAA">
                                      <p:cBhvr>
                                        <p:cTn id="4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-0.00023 C 0.04141 -0.00023 0.03685 -0.45856 0.03477 -0.57917 C 0.03281 -0.69977 0.02526 -0.6993 -0.01237 -0.72384 C -0.04987 -0.74838 -0.13997 -0.75254 -0.19049 -0.72569 C -0.26276 -0.72153 -0.22852 -0.37847 -0.22852 -0.33657 " pathEditMode="relative" rAng="0" ptsTypes="AAAAA">
                                      <p:cBhvr>
                                        <p:cTn id="4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-37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8 0.31898 L 0.00078 0.31898 C -0.0013 0.3243 -0.00364 0.3294 -0.00547 0.33518 C -0.00703 0.34028 -0.0082 0.34583 -0.00937 0.35139 C -0.01302 0.3706 -0.01276 0.36991 -0.01393 0.38472 C -0.01354 0.39259 -0.01315 0.40069 -0.0125 0.40879 C -0.01132 0.42083 -0.01015 0.42407 -0.00807 0.43518 C -0.00729 0.43889 -0.0069 0.44305 -0.00599 0.44676 C -0.00507 0.44977 -0.00377 0.45208 -0.00286 0.45509 C -0.00052 0.46203 -0.00104 0.46273 0.00131 0.46852 C 0.00508 0.47731 0.00495 0.47291 0.00495 0.47731 " pathEditMode="relative" ptsTypes="AAAAAAAAAAA">
                                      <p:cBhvr>
                                        <p:cTn id="5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0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78 0.47176 L 0.00378 0.47176 C -3.54167E-6 0.48032 -0.00169 0.48194 -0.00299 0.49074 C -0.00325 0.4919 -0.00325 0.49305 -0.00325 0.49444 C -0.00325 0.50069 -0.00338 0.50694 -0.00299 0.51342 C -0.00299 0.51435 -0.00234 0.51666 -0.00143 0.51713 C -0.00052 0.51736 0.00039 0.51736 0.00144 0.51759 C 0.00183 0.51782 0.00222 0.51805 0.00274 0.51852 C 0.003 0.51852 0.00378 0.51898 0.00378 0.51898 " pathEditMode="relative" ptsTypes="AAAAAAAAA">
                                      <p:cBhvr>
                                        <p:cTn id="6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07 C 0.04115 -0.0007 0.0418 -0.24283 0.03971 -0.36389 C 0.03776 -0.4838 0.03698 -0.48681 0.03177 -0.52246 C 0.02669 -0.55834 -0.02708 -0.58334 -0.06641 -0.58959 C -0.10586 -0.59607 -0.07604 -0.61366 -0.20456 -0.56667 C -0.24193 -0.50672 -0.22878 -0.37987 -0.22878 -0.33774 " pathEditMode="relative" rAng="0" ptsTypes="AAAAAA">
                                      <p:cBhvr>
                                        <p:cTn id="7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79" y="-29884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0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04 0.51991 L 0.00404 0.51991 C 0.00274 0.52338 0.00118 0.52662 0.00013 0.53055 C -0.00065 0.53264 -0.00078 0.53657 -0.00091 0.53935 C -0.00065 0.54259 -0.00078 0.54606 -0.00013 0.54953 C -3.54167E-6 0.55069 0.00065 0.55139 0.00118 0.55231 C 0.00508 0.55972 0.00105 0.55139 0.0043 0.55833 C 0.00495 0.56134 0.00443 0.55995 0.00586 0.56203 " pathEditMode="relative" ptsTypes="AAAAAAAA">
                                      <p:cBhvr>
                                        <p:cTn id="8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0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86 0.56203 L 0.00586 0.5625 C 0.00495 0.56134 0.00378 0.56111 0.00313 0.56065 C -0.01367 0.54051 -0.0095 0.54514 -0.02161 0.51597 C -0.02265 0.51041 -0.02356 0.50463 -0.02474 0.4993 C -0.02565 0.49514 -0.02708 0.49166 -0.02786 0.48773 C -0.0289 0.48217 -0.03112 0.46296 -0.03177 0.45764 C -0.03242 0.44629 -0.03294 0.44328 -0.03099 0.43078 C -0.0302 0.42523 -0.02877 0.42014 -0.02734 0.41504 C -0.02461 0.40486 -0.01862 0.38472 -0.01406 0.37338 C -0.01145 0.36643 -0.00937 0.36203 -0.00599 0.35671 C -0.00533 0.35555 -0.00533 0.35671 -0.00442 0.35625 C -0.00091 0.35347 0.00052 0.35903 0.00469 0.35903 " pathEditMode="relative" rAng="0" ptsTypes="AAAAAAAAAAAAA">
                                      <p:cBhvr>
                                        <p:cTn id="9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4" y="-10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0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82 0.34676 L 0.00482 0.34676 C 0.00404 0.34606 0.00326 0.34583 0.00274 0.34491 C -0.00911 0.32268 -0.0069 0.32778 -0.01263 0.30787 C -0.01276 0.30509 -0.01276 0.30254 -0.01289 0.3 C -0.01328 0.29467 -0.01406 0.28981 -0.01419 0.28472 C -0.01471 0.27083 -0.01497 0.24352 -0.01497 0.24352 C -0.01471 0.23032 -0.01471 0.21713 -0.01393 0.20416 C -0.01354 0.19491 -0.01211 0.18796 -0.01106 0.17963 C -0.00989 0.16852 -0.01054 0.16759 -0.00768 0.1537 C -0.00716 0.15046 -0.00651 0.14745 -0.00586 0.14444 C -0.00442 0.13611 -0.0056 0.13958 -0.00325 0.13287 C -0.00273 0.13102 -0.00234 0.12916 -0.00143 0.12778 C -0.00052 0.12592 0.00065 0.1243 0.00196 0.12361 L 0.00743 0.12037 " pathEditMode="relative" ptsTypes="AAAAAAAAAAAAAAA">
                                      <p:cBhvr>
                                        <p:cTn id="10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4" grpId="1" animBg="1"/>
      <p:bldP spid="44" grpId="2" animBg="1"/>
      <p:bldP spid="44" grpId="3" animBg="1"/>
      <p:bldP spid="44" grpId="4" animBg="1"/>
      <p:bldP spid="44" grpId="5" animBg="1"/>
      <p:bldP spid="44" grpId="6" animBg="1"/>
      <p:bldP spid="44" grpId="7" animBg="1"/>
      <p:bldP spid="44" grpId="8" animBg="1"/>
      <p:bldP spid="44" grpId="9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273</Words>
  <Application>Microsoft Office PowerPoint</Application>
  <PresentationFormat>宽屏</PresentationFormat>
  <Paragraphs>55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第五次培训： C语言入门（第2讲）</dc:title>
  <dc:subject>PptxGenJS Presentation</dc:subject>
  <dc:creator>Created by Marp</dc:creator>
  <cp:lastModifiedBy>恒睿 张</cp:lastModifiedBy>
  <cp:revision>3</cp:revision>
  <dcterms:created xsi:type="dcterms:W3CDTF">2025-10-24T09:42:50Z</dcterms:created>
  <dcterms:modified xsi:type="dcterms:W3CDTF">2025-10-24T12:31:24Z</dcterms:modified>
</cp:coreProperties>
</file>